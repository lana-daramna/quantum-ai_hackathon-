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9" r:id="rId13"/>
    <p:sldId id="270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85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2/7/2026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10" Type="http://schemas.openxmlformats.org/officeDocument/2006/relationships/notesSlide" Target="../notesSlides/notesSlide10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6C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097280"/>
            <a:ext cx="7315200" cy="1828800"/>
          </a:xfrm>
          <a:prstGeom prst="rect">
            <a:avLst/>
          </a:prstGeom>
          <a:solidFill>
            <a:srgbClr val="FFFFFF">
              <a:alpha val="90000"/>
            </a:srgbClr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0" y="1371600"/>
            <a:ext cx="18288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000000"/>
                </a:solidFill>
              </a:rPr>
              <a:t>🚑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</a:rPr>
              <a:t>Path2life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374904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FFFFFF"/>
                </a:solidFill>
              </a:rPr>
              <a:t>Smart Emergency Decision Support System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⚛️ Powered by Quantum-Inspired AI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6217920"/>
            <a:ext cx="82296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Mira Huseen &amp; Lana Daramna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3946"/>
                </a:solidFill>
              </a:rPr>
              <a:t>🚨 The Problem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886200" cy="1371600"/>
          </a:xfrm>
          <a:prstGeom prst="rect">
            <a:avLst/>
          </a:prstGeom>
          <a:solidFill>
            <a:srgbClr val="F8F9FA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05255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⏱️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25880"/>
            <a:ext cx="2880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3946"/>
                </a:solidFill>
              </a:rPr>
              <a:t>Delayed Response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Average 15-20 min delay in emergency response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800600" y="1188720"/>
            <a:ext cx="3886200" cy="1371600"/>
          </a:xfrm>
          <a:prstGeom prst="rect">
            <a:avLst/>
          </a:prstGeom>
          <a:solidFill>
            <a:srgbClr val="F8F9FA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3480" y="128016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🎯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5623560" y="1325880"/>
            <a:ext cx="2880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9800"/>
                </a:solidFill>
              </a:rPr>
              <a:t>Poor Decision Making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78308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50%+ of dispatches use wrong ambulance type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834640"/>
            <a:ext cx="3886200" cy="137160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92608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🚧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280160" y="2971800"/>
            <a:ext cx="2880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A6CF1"/>
                </a:solidFill>
              </a:rPr>
              <a:t>Route Challenges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Checkpoints &amp; road closures cause 30% delays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800600" y="2834640"/>
            <a:ext cx="3886200" cy="1371600"/>
          </a:xfrm>
          <a:prstGeom prst="rect">
            <a:avLst/>
          </a:prstGeom>
          <a:solidFill>
            <a:srgbClr val="F8F9FA"/>
          </a:solidFill>
          <a:ln w="254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83480" y="2926080"/>
            <a:ext cx="5486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📊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623560" y="2971800"/>
            <a:ext cx="28803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</a:rPr>
              <a:t>No Data-Driven System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983480" y="342900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</a:rPr>
              <a:t>Decisions based on experience, not optimization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i="1" dirty="0">
                <a:solidFill>
                  <a:srgbClr val="E63946"/>
                </a:solidFill>
              </a:rPr>
              <a:t>💔 </a:t>
            </a:r>
            <a:r>
              <a:rPr lang="ar-JO" altLang="en-US" sz="1800" b="1" i="1" dirty="0">
                <a:solidFill>
                  <a:srgbClr val="E63946"/>
                </a:solidFill>
              </a:rPr>
              <a:t>   </a:t>
            </a:r>
            <a:r>
              <a:rPr lang="en-US" sz="1800" b="1" i="1" dirty="0">
                <a:solidFill>
                  <a:srgbClr val="E63946"/>
                </a:solidFill>
              </a:rPr>
              <a:t>Every minute counts in saving lives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39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Why This Matters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JO" altLang="en-US" sz="6400" b="1" dirty="0">
                <a:solidFill>
                  <a:srgbClr val="FFFFFF"/>
                </a:solidFill>
              </a:rPr>
              <a:t>8</a:t>
            </a:r>
            <a:r>
              <a:rPr lang="en-US" altLang="en-US" sz="6400" b="1" dirty="0">
                <a:solidFill>
                  <a:srgbClr val="FFFFFF"/>
                </a:solidFill>
              </a:rPr>
              <a:t>3,000</a:t>
            </a:r>
            <a:r>
              <a:rPr lang="en-US" sz="6400" b="1" dirty="0">
                <a:solidFill>
                  <a:srgbClr val="FFFFFF"/>
                </a:solidFill>
              </a:rPr>
              <a:t>+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457200" y="2834640"/>
            <a:ext cx="4579620" cy="821055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altLang="en-US" sz="1600" dirty="0">
                <a:solidFill>
                  <a:srgbClr val="FFFFFF"/>
                </a:solidFill>
              </a:rPr>
              <a:t>Before 2023, ambulance services in Palestine responded to around 83,000 emergency calls annually.</a:t>
            </a:r>
          </a:p>
        </p:txBody>
      </p:sp>
      <p:sp>
        <p:nvSpPr>
          <p:cNvPr id="5" name="Text 3"/>
          <p:cNvSpPr/>
          <p:nvPr/>
        </p:nvSpPr>
        <p:spPr>
          <a:xfrm>
            <a:off x="5029200" y="1645920"/>
            <a:ext cx="3657600" cy="10972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b="1" dirty="0">
                <a:solidFill>
                  <a:srgbClr val="FFFFFF"/>
                </a:solidFill>
              </a:rPr>
              <a:t>15-20 min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5029200" y="2834640"/>
            <a:ext cx="36576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Average delay caused by poor route/ambulance selection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27480" y="3724275"/>
            <a:ext cx="6400800" cy="1371600"/>
          </a:xfrm>
          <a:prstGeom prst="rect">
            <a:avLst/>
          </a:prstGeom>
          <a:noFill/>
          <a:ln w="25400">
            <a:solidFill>
              <a:srgbClr val="FFFFFF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0000"/>
                  </a:srgbClr>
                </a:solidFill>
              </a14:hiddenFill>
            </a:ext>
          </a:extLst>
        </p:spPr>
      </p:sp>
      <p:sp>
        <p:nvSpPr>
          <p:cNvPr id="8" name="Text 6"/>
          <p:cNvSpPr/>
          <p:nvPr/>
        </p:nvSpPr>
        <p:spPr>
          <a:xfrm>
            <a:off x="1554480" y="3971925"/>
            <a:ext cx="603504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🎯 UN SDG 3: Good Health and Well-being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"Ensure healthy lives and promote well-being for all"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A6CF1"/>
                </a:solidFill>
              </a:rPr>
              <a:t>💡 Our Solution: Path2life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4114800" cy="3657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A6CF1"/>
                </a:solidFill>
              </a:rPr>
              <a:t>AI-Powered</a:t>
            </a:r>
            <a:r>
              <a:rPr lang="en-US" sz="2000" dirty="0">
                <a:solidFill>
                  <a:srgbClr val="333333"/>
                </a:solidFill>
              </a:rPr>
              <a:t> Emergency Decision Support System
</a:t>
            </a:r>
            <a:r>
              <a:rPr lang="en-US" sz="1400" dirty="0">
                <a:solidFill>
                  <a:srgbClr val="555555"/>
                </a:solidFill>
              </a:rPr>
              <a:t>✅ Analyzes patient data in real-time
✅ Calculates AI-based risk score
✅ Uses quantum-inspired optimization
✅ Selects optimal ambulance &amp; route
✅ Provides decision in &lt;100ms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029200" y="1371600"/>
            <a:ext cx="3657600" cy="64008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0" y="146304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📱 Patient Data Input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675120" y="2057400"/>
            <a:ext cx="3657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A6CF1"/>
                </a:solidFill>
              </a:rPr>
              <a:t>↓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0" y="2286000"/>
            <a:ext cx="3657600" cy="64008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20640" y="237744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🧠 AI Risk Assessment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971800"/>
            <a:ext cx="3657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A6CF1"/>
                </a:solidFill>
              </a:rPr>
              <a:t>↓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029200" y="3200400"/>
            <a:ext cx="3657600" cy="64008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0" y="329184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⚛️ Quantum Optimization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3886200"/>
            <a:ext cx="365760" cy="1828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A6CF1"/>
                </a:solidFill>
              </a:rPr>
              <a:t>↓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029200" y="4114800"/>
            <a:ext cx="3657600" cy="64008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0" y="4206240"/>
            <a:ext cx="34747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✅ Optimal Decision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⚛️ Technology Stack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85140" y="1005840"/>
            <a:ext cx="4086225" cy="3836035"/>
          </a:xfrm>
          <a:prstGeom prst="rect">
            <a:avLst/>
          </a:prstGeom>
          <a:noFill/>
          <a:ln w="38100">
            <a:solidFill>
              <a:srgbClr val="14B8A6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0000"/>
                  </a:srgbClr>
                </a:solidFill>
              </a14:hiddenFill>
            </a:ext>
          </a:extLst>
        </p:spPr>
      </p:sp>
      <p:sp>
        <p:nvSpPr>
          <p:cNvPr id="4" name="Text 2"/>
          <p:cNvSpPr/>
          <p:nvPr/>
        </p:nvSpPr>
        <p:spPr>
          <a:xfrm>
            <a:off x="640080" y="1371600"/>
            <a:ext cx="3749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🤖 Artificial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3749040" cy="3108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FFFFFF"/>
                </a:solidFill>
              </a:rPr>
              <a:t>Risk Assessment Model
</a:t>
            </a:r>
            <a:r>
              <a:rPr lang="en-US" sz="1200" dirty="0">
                <a:solidFill>
                  <a:srgbClr val="FFFFFF"/>
                </a:solidFill>
              </a:rPr>
              <a:t>• Analyzes age, symptoms, chronic diseases
• Considers incident type &amp; location
• Outputs risk score (0-1)
</a:t>
            </a:r>
            <a:endParaRPr lang="en-US" sz="1400" dirty="0"/>
          </a:p>
          <a:p>
            <a:pPr marL="0" indent="0">
              <a:buSzPct val="100000"/>
              <a:buNone/>
            </a:pPr>
            <a:r>
              <a:rPr lang="en-US" sz="1400" dirty="0">
                <a:solidFill>
                  <a:srgbClr val="FFFFFF"/>
                </a:solidFill>
              </a:rPr>
              <a:t>Multi-objective Cost Function
</a:t>
            </a:r>
            <a:r>
              <a:rPr lang="en-US" sz="1200" dirty="0">
                <a:solidFill>
                  <a:srgbClr val="FFFFFF"/>
                </a:solidFill>
              </a:rPr>
              <a:t>• Balances time, safety, resources
• Adaptive to emergency severity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4095750" cy="3836035"/>
          </a:xfrm>
          <a:prstGeom prst="rect">
            <a:avLst/>
          </a:prstGeom>
          <a:noFill/>
          <a:ln w="38100">
            <a:solidFill>
              <a:srgbClr val="E63946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0000"/>
                  </a:srgbClr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54880" y="1371600"/>
            <a:ext cx="37490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⚛️ Quantum-Inspired Optimization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754880" y="2011680"/>
            <a:ext cx="3749040" cy="3108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</a:rPr>
              <a:t>1. Superposition
</a:t>
            </a:r>
            <a:r>
              <a:rPr lang="en-US" sz="1100" dirty="0">
                <a:solidFill>
                  <a:srgbClr val="FFFFFF"/>
                </a:solidFill>
              </a:rPr>
              <a:t>   Explores all solutions simultaneously
</a:t>
            </a:r>
            <a:r>
              <a:rPr lang="en-US" sz="1400" b="1" dirty="0">
                <a:solidFill>
                  <a:srgbClr val="14B8A6"/>
                </a:solidFill>
              </a:rPr>
              <a:t>2. Quantum Annealing
</a:t>
            </a:r>
            <a:r>
              <a:rPr lang="en-US" sz="1100" dirty="0">
                <a:solidFill>
                  <a:srgbClr val="FFFFFF"/>
                </a:solidFill>
              </a:rPr>
              <a:t>   Converges to optimal solution
</a:t>
            </a:r>
            <a:r>
              <a:rPr lang="en-US" sz="1400" b="1" dirty="0">
                <a:solidFill>
                  <a:srgbClr val="14B8A6"/>
                </a:solidFill>
              </a:rPr>
              <a:t>3. Quantum Tunneling
</a:t>
            </a:r>
            <a:r>
              <a:rPr lang="en-US" sz="1100" dirty="0">
                <a:solidFill>
                  <a:srgbClr val="FFFFFF"/>
                </a:solidFill>
              </a:rPr>
              <a:t>   Escapes local minima
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A6CF1"/>
                </a:solidFill>
              </a:rPr>
              <a:t>🔄 How Path2life Works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548640" y="777240"/>
            <a:ext cx="457200" cy="457200"/>
          </a:xfrm>
          <a:prstGeom prst="ellipse">
            <a:avLst/>
          </a:prstGeom>
          <a:solidFill>
            <a:srgbClr val="0A6CF1"/>
          </a:solidFill>
        </p:spPr>
      </p:sp>
      <p:sp>
        <p:nvSpPr>
          <p:cNvPr id="4" name="Text 2"/>
          <p:cNvSpPr/>
          <p:nvPr/>
        </p:nvSpPr>
        <p:spPr>
          <a:xfrm>
            <a:off x="548640" y="82296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188720" y="77724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82296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Data Collection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14300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Age, symptoms, chronic diseases, location, road status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1280160"/>
            <a:ext cx="91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A6CF1"/>
                </a:solidFill>
              </a:rPr>
              <a:t>↓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FF9800"/>
          </a:solidFill>
        </p:spPr>
      </p:sp>
      <p:sp>
        <p:nvSpPr>
          <p:cNvPr id="10" name="Text 8"/>
          <p:cNvSpPr/>
          <p:nvPr/>
        </p:nvSpPr>
        <p:spPr>
          <a:xfrm>
            <a:off x="548640" y="169164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188720" y="164592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FF98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169164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AI Risk Calculation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01168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ML model calculates risk score: 0.85 (Critical)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2148840"/>
            <a:ext cx="91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9800"/>
                </a:solidFill>
              </a:rPr>
              <a:t>↓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2514600"/>
            <a:ext cx="457200" cy="457200"/>
          </a:xfrm>
          <a:prstGeom prst="ellipse">
            <a:avLst/>
          </a:prstGeom>
          <a:solidFill>
            <a:srgbClr val="14B8A6"/>
          </a:solidFill>
        </p:spPr>
      </p:sp>
      <p:sp>
        <p:nvSpPr>
          <p:cNvPr id="16" name="Text 14"/>
          <p:cNvSpPr/>
          <p:nvPr/>
        </p:nvSpPr>
        <p:spPr>
          <a:xfrm>
            <a:off x="548640" y="256032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1188720" y="251460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256032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Solution Space Creation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288036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All route × ambulance combinations (e.g., 2 routes × 2 ambulances = 4)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3017520"/>
            <a:ext cx="91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4B8A6"/>
                </a:solidFill>
              </a:rPr>
              <a:t>↓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3383280"/>
            <a:ext cx="457200" cy="457200"/>
          </a:xfrm>
          <a:prstGeom prst="ellipse">
            <a:avLst/>
          </a:prstGeom>
          <a:solidFill>
            <a:srgbClr val="E63946"/>
          </a:solidFill>
        </p:spPr>
      </p:sp>
      <p:sp>
        <p:nvSpPr>
          <p:cNvPr id="22" name="Text 20"/>
          <p:cNvSpPr/>
          <p:nvPr/>
        </p:nvSpPr>
        <p:spPr>
          <a:xfrm>
            <a:off x="548640" y="342900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1188720" y="3390654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E6394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342900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Quantum Optimization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71600" y="374904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100 iterations of annealing in &lt;100ms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31520" y="3886200"/>
            <a:ext cx="914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63946"/>
                </a:solidFill>
              </a:rPr>
              <a:t>↓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48640" y="4251960"/>
            <a:ext cx="457200" cy="457200"/>
          </a:xfrm>
          <a:prstGeom prst="ellipse">
            <a:avLst/>
          </a:prstGeom>
          <a:solidFill>
            <a:srgbClr val="4CAF50"/>
          </a:solidFill>
        </p:spPr>
      </p:sp>
      <p:sp>
        <p:nvSpPr>
          <p:cNvPr id="28" name="Text 26"/>
          <p:cNvSpPr/>
          <p:nvPr/>
        </p:nvSpPr>
        <p:spPr>
          <a:xfrm>
            <a:off x="548640" y="4297680"/>
            <a:ext cx="4572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29" name="Shape 27"/>
          <p:cNvSpPr/>
          <p:nvPr/>
        </p:nvSpPr>
        <p:spPr>
          <a:xfrm>
            <a:off x="1188720" y="4251960"/>
            <a:ext cx="7498080" cy="731520"/>
          </a:xfrm>
          <a:prstGeom prst="rect">
            <a:avLst/>
          </a:prstGeom>
          <a:solidFill>
            <a:srgbClr val="F8F9FA"/>
          </a:solidFill>
          <a:ln w="25400">
            <a:solidFill>
              <a:srgbClr val="4CAF5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429768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33333"/>
                </a:solidFill>
              </a:rPr>
              <a:t>Decision Output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371600" y="4617720"/>
            <a:ext cx="71323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</a:rPr>
              <a:t>Best ambulance with best  route.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6CF1"/>
                </a:solidFill>
              </a:rPr>
              <a:t>🎯 UN Sustainable Development Goals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13080" y="914400"/>
            <a:ext cx="8229600" cy="1645920"/>
          </a:xfrm>
          <a:prstGeom prst="rect">
            <a:avLst/>
          </a:prstGeom>
          <a:solidFill>
            <a:srgbClr val="0A6CF1"/>
          </a:solidFill>
          <a:ln w="12700">
            <a:solidFill>
              <a:srgbClr val="0A6CF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SDG 3: Good Health and Well-being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8638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FFFFFF"/>
                </a:solidFill>
              </a:rPr>
              <a:t>"Ensure healthy lives and promote well-being for all at all ages"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13080" y="26517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</a:rPr>
              <a:t>How Path2life Contributes: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10896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⏱️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3017520"/>
            <a:ext cx="7589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Reduces emergency response time by 15-30%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356616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3566160"/>
            <a:ext cx="7589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Improves accuracy of emergency resource allocation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4114800"/>
            <a:ext cx="7589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Data-driven decisions save lives in critical situations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466344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🌍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05840" y="4663440"/>
            <a:ext cx="75895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33333"/>
                </a:solidFill>
              </a:rPr>
              <a:t>Addresses unique Palestinian context (checkpoints, closures)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B8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💡 Innovation &amp; Creativity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5544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🥇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43000" y="146304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First-of-its-kind in Palestine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2025" y="178308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No existing emergency system uses AI + Quantum optimization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00600" y="128016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5544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⚛️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0" y="141732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Novel Approach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37760" y="182880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Combines quantum annealing with real-world emergency constraints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117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68680" y="269748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Beyond Traditional Systems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301752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Not just 'fastest route' - balances time, safety, and resources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800600" y="256032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937760" y="28117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🗺️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486400" y="269748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Context-Aware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347335" y="301752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Accounts for Palestine-specific challenges (checkpoints, closures)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93192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⚡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143000" y="397764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Real-time Processing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4389120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Decision </a:t>
            </a:r>
            <a:r>
              <a:rPr lang="en-US" sz="1100">
                <a:solidFill>
                  <a:srgbClr val="555555"/>
                </a:solidFill>
              </a:rPr>
              <a:t>in &lt;100ms </a:t>
            </a:r>
            <a:r>
              <a:rPr lang="en-US" sz="1100" dirty="0">
                <a:solidFill>
                  <a:srgbClr val="555555"/>
                </a:solidFill>
              </a:rPr>
              <a:t>vs. minutes for human operators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3840480"/>
            <a:ext cx="388620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37760" y="406908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486400" y="397764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Scalable &amp; Extensible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73040" y="4252595"/>
            <a:ext cx="36118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Can integrate traffic APIs, hospital capacity, weather data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63946"/>
                </a:solidFill>
              </a:rPr>
              <a:t>❤️ Social Impact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86200" cy="1828800"/>
          </a:xfrm>
          <a:prstGeom prst="rect">
            <a:avLst/>
          </a:prstGeom>
          <a:solidFill>
            <a:srgbClr val="F8F9FA"/>
          </a:solidFill>
          <a:ln w="38100">
            <a:solidFill>
              <a:srgbClr val="4CAF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204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4CAF50"/>
                </a:solidFill>
              </a:rPr>
              <a:t>50-100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10312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</a:rPr>
              <a:t>Lives Saved Annually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</a:rPr>
              <a:t>(projected)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800600" y="1097280"/>
            <a:ext cx="3886200" cy="1828800"/>
          </a:xfrm>
          <a:prstGeom prst="rect">
            <a:avLst/>
          </a:prstGeom>
          <a:solidFill>
            <a:srgbClr val="F8F9FA"/>
          </a:solidFill>
          <a:ln w="38100">
            <a:solidFill>
              <a:srgbClr val="0A6C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83480" y="1280160"/>
            <a:ext cx="352044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0A6CF1"/>
                </a:solidFill>
              </a:rPr>
              <a:t>3M+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4983480" y="2103120"/>
            <a:ext cx="35204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</a:rPr>
              <a:t>Palestinian Citizens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333333"/>
                </a:solidFill>
              </a:rPr>
              <a:t>Benefiting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</a:rPr>
              <a:t>Key Impact Areas: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✅ Economic: Reduced healthcare costs through efficient resource allocation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✅ Social: Equal access to optimized emergency care across all Palestinian cities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✅ Sustainability: System learns and improves from each emergency case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475488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</a:rPr>
              <a:t>✅ Scalability: Can be deployed nationwide with minimal infrastructure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11125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A6CF1"/>
                </a:solidFill>
              </a:rPr>
              <a:t>🏗️ System Architecture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659130"/>
            <a:ext cx="8229600" cy="914400"/>
          </a:xfrm>
          <a:prstGeom prst="rect">
            <a:avLst/>
          </a:prstGeom>
          <a:solidFill>
            <a:srgbClr val="FFFFFF"/>
          </a:solidFill>
          <a:ln w="38100">
            <a:solidFill>
              <a:srgbClr val="0A6CF1"/>
            </a:solidFill>
            <a:prstDash val="solid"/>
          </a:ln>
        </p:spPr>
      </p:sp>
      <p:sp>
        <p:nvSpPr>
          <p:cNvPr id="4" name="Text 2"/>
          <p:cNvSpPr/>
          <p:nvPr>
            <p:custDataLst>
              <p:tags r:id="rId1"/>
            </p:custDataLst>
          </p:nvPr>
        </p:nvSpPr>
        <p:spPr>
          <a:xfrm>
            <a:off x="640080" y="750570"/>
            <a:ext cx="2286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6CF1"/>
                </a:solidFill>
              </a:rPr>
              <a:t>Frontend Layer</a:t>
            </a:r>
            <a:endParaRPr lang="en-US" sz="1400" dirty="0"/>
          </a:p>
        </p:txBody>
      </p:sp>
      <p:sp>
        <p:nvSpPr>
          <p:cNvPr id="5" name="Text 3"/>
          <p:cNvSpPr/>
          <p:nvPr>
            <p:custDataLst>
              <p:tags r:id="rId2"/>
            </p:custDataLst>
          </p:nvPr>
        </p:nvSpPr>
        <p:spPr>
          <a:xfrm>
            <a:off x="640080" y="111633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HTML/CSS/JavaScript  •  Responsive Design  •  Chatbot Interface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756410"/>
            <a:ext cx="8229600" cy="914400"/>
          </a:xfrm>
          <a:prstGeom prst="rect">
            <a:avLst/>
          </a:prstGeom>
          <a:solidFill>
            <a:srgbClr val="FFFFFF"/>
          </a:solidFill>
          <a:ln w="38100">
            <a:solidFill>
              <a:srgbClr val="14B8A6"/>
            </a:solidFill>
            <a:prstDash val="solid"/>
          </a:ln>
        </p:spPr>
      </p:sp>
      <p:sp>
        <p:nvSpPr>
          <p:cNvPr id="7" name="Text 5"/>
          <p:cNvSpPr/>
          <p:nvPr>
            <p:custDataLst>
              <p:tags r:id="rId3"/>
            </p:custDataLst>
          </p:nvPr>
        </p:nvSpPr>
        <p:spPr>
          <a:xfrm>
            <a:off x="640080" y="1847850"/>
            <a:ext cx="2286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B8A6"/>
                </a:solidFill>
              </a:rPr>
              <a:t>Backend Layer</a:t>
            </a:r>
            <a:endParaRPr lang="en-US" sz="1400" dirty="0"/>
          </a:p>
        </p:txBody>
      </p:sp>
      <p:sp>
        <p:nvSpPr>
          <p:cNvPr id="8" name="Text 6"/>
          <p:cNvSpPr/>
          <p:nvPr>
            <p:custDataLst>
              <p:tags r:id="rId4"/>
            </p:custDataLst>
          </p:nvPr>
        </p:nvSpPr>
        <p:spPr>
          <a:xfrm>
            <a:off x="640080" y="221361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Flask REST API  •  Python 3.8+  •  CORS Support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853690"/>
            <a:ext cx="8229600" cy="914400"/>
          </a:xfrm>
          <a:prstGeom prst="rect">
            <a:avLst/>
          </a:prstGeom>
          <a:solidFill>
            <a:srgbClr val="FFFFFF"/>
          </a:solidFill>
          <a:ln w="38100">
            <a:solidFill>
              <a:srgbClr val="FF9800"/>
            </a:solidFill>
            <a:prstDash val="solid"/>
          </a:ln>
        </p:spPr>
      </p:sp>
      <p:sp>
        <p:nvSpPr>
          <p:cNvPr id="10" name="Text 8"/>
          <p:cNvSpPr/>
          <p:nvPr>
            <p:custDataLst>
              <p:tags r:id="rId5"/>
            </p:custDataLst>
          </p:nvPr>
        </p:nvSpPr>
        <p:spPr>
          <a:xfrm>
            <a:off x="640080" y="2945130"/>
            <a:ext cx="2286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9800"/>
                </a:solidFill>
              </a:rPr>
              <a:t>AI/ML Layer</a:t>
            </a:r>
            <a:endParaRPr lang="en-US" sz="1400" dirty="0"/>
          </a:p>
        </p:txBody>
      </p:sp>
      <p:sp>
        <p:nvSpPr>
          <p:cNvPr id="11" name="Text 9"/>
          <p:cNvSpPr/>
          <p:nvPr>
            <p:custDataLst>
              <p:tags r:id="rId6"/>
            </p:custDataLst>
          </p:nvPr>
        </p:nvSpPr>
        <p:spPr>
          <a:xfrm>
            <a:off x="640080" y="331089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Risk Assessment Model  •  Multi-objective Optimization  •  Real-time Processing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950970"/>
            <a:ext cx="8229600" cy="914400"/>
          </a:xfrm>
          <a:prstGeom prst="rect">
            <a:avLst/>
          </a:prstGeom>
          <a:solidFill>
            <a:srgbClr val="FFFFFF"/>
          </a:solidFill>
          <a:ln w="38100">
            <a:solidFill>
              <a:srgbClr val="E63946"/>
            </a:solidFill>
            <a:prstDash val="solid"/>
          </a:ln>
        </p:spPr>
      </p:sp>
      <p:sp>
        <p:nvSpPr>
          <p:cNvPr id="13" name="Text 11"/>
          <p:cNvSpPr/>
          <p:nvPr>
            <p:custDataLst>
              <p:tags r:id="rId7"/>
            </p:custDataLst>
          </p:nvPr>
        </p:nvSpPr>
        <p:spPr>
          <a:xfrm>
            <a:off x="640080" y="4042410"/>
            <a:ext cx="22860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63946"/>
                </a:solidFill>
              </a:rPr>
              <a:t>Quantum Layer</a:t>
            </a:r>
            <a:endParaRPr lang="en-US" sz="1400" dirty="0"/>
          </a:p>
        </p:txBody>
      </p:sp>
      <p:sp>
        <p:nvSpPr>
          <p:cNvPr id="14" name="Text 12"/>
          <p:cNvSpPr/>
          <p:nvPr>
            <p:custDataLst>
              <p:tags r:id="rId8"/>
            </p:custDataLst>
          </p:nvPr>
        </p:nvSpPr>
        <p:spPr>
          <a:xfrm>
            <a:off x="640080" y="4408170"/>
            <a:ext cx="78638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</a:rPr>
              <a:t>Quantum Annealing  •  Solution Space Explorer  •  Confidence Scoring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A6CF1"/>
                </a:solidFill>
              </a:rPr>
              <a:t>🚀 Future Development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86200" cy="155448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280160"/>
            <a:ext cx="388620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5" name="Text 3"/>
          <p:cNvSpPr/>
          <p:nvPr/>
        </p:nvSpPr>
        <p:spPr>
          <a:xfrm>
            <a:off x="548640" y="1325880"/>
            <a:ext cx="3703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3611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Machine Learning Enhancement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Learn from historical dispatch data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Adaptive weight optimization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Predictive route conditions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3886200" cy="155448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1280160"/>
            <a:ext cx="388620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12" name="Text 10"/>
          <p:cNvSpPr/>
          <p:nvPr/>
        </p:nvSpPr>
        <p:spPr>
          <a:xfrm>
            <a:off x="4892040" y="1325880"/>
            <a:ext cx="3703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37760" y="1828800"/>
            <a:ext cx="3611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Real-time Data Integration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219456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Traffic APIs (Google Maps, Waze)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983480" y="237744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Weather conditions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256032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Hospital ER capacity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3886200" cy="155448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108960"/>
            <a:ext cx="388620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19" name="Text 17"/>
          <p:cNvSpPr/>
          <p:nvPr/>
        </p:nvSpPr>
        <p:spPr>
          <a:xfrm>
            <a:off x="548640" y="3154680"/>
            <a:ext cx="3703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94360" y="3657600"/>
            <a:ext cx="3611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True Quantum Computing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402336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IBM Qiskit integration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420624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D-Wave quantum annealer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438912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Variational Quantum Eigensolver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00600" y="3108960"/>
            <a:ext cx="3886200" cy="1554480"/>
          </a:xfrm>
          <a:prstGeom prst="rect">
            <a:avLst/>
          </a:prstGeom>
          <a:solidFill>
            <a:srgbClr val="F8F9FA"/>
          </a:solidFill>
          <a:ln w="25400">
            <a:solidFill>
              <a:srgbClr val="0A6CF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108960"/>
            <a:ext cx="3886200" cy="457200"/>
          </a:xfrm>
          <a:prstGeom prst="rect">
            <a:avLst/>
          </a:prstGeom>
          <a:solidFill>
            <a:srgbClr val="0A6CF1"/>
          </a:solidFill>
        </p:spPr>
      </p:sp>
      <p:sp>
        <p:nvSpPr>
          <p:cNvPr id="26" name="Text 24"/>
          <p:cNvSpPr/>
          <p:nvPr/>
        </p:nvSpPr>
        <p:spPr>
          <a:xfrm>
            <a:off x="4892040" y="3154680"/>
            <a:ext cx="370332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Phase 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937760" y="3657600"/>
            <a:ext cx="36118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Multi-Agent System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983480" y="402336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Coordinate multiple ambulances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983480" y="420624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Fleet-wide optimization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983480" y="4389120"/>
            <a:ext cx="3520440" cy="1645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55555"/>
                </a:solidFill>
              </a:rPr>
              <a:t>• Predictive dispatch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6C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👥 Our Team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" y="1371600"/>
            <a:ext cx="3200400" cy="2588895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30175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</a:rPr>
              <a:t>Mira Huseen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3017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</a:rPr>
              <a:t>Al-Istiqlal University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371600"/>
            <a:ext cx="3336290" cy="2593340"/>
          </a:xfrm>
          <a:prstGeom prst="rect">
            <a:avLst/>
          </a:prstGeom>
          <a:solidFill>
            <a:srgbClr val="FFFFFF"/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1645920"/>
            <a:ext cx="301752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</a:rPr>
              <a:t>Lana Daramna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754880" y="2194560"/>
            <a:ext cx="30175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66666"/>
                </a:solidFill>
              </a:rPr>
              <a:t>Birzeit University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39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371600"/>
            <a:ext cx="6400800" cy="3200400"/>
          </a:xfrm>
          <a:prstGeom prst="rect">
            <a:avLst/>
          </a:prstGeom>
          <a:noFill/>
          <a:ln w="38100">
            <a:solidFill>
              <a:srgbClr val="FFFFFF"/>
            </a:solidFill>
            <a:prstDash val="solid"/>
          </a:ln>
          <a:extLst>
            <a:ext uri="{909E8E84-426E-40DD-AFC4-6F175D3DCCD1}">
              <a14:hiddenFill xmlns:a14="http://schemas.microsoft.com/office/drawing/2010/main">
                <a:solidFill>
                  <a:srgbClr val="FFFFFF">
                    <a:alpha val="90000"/>
                  </a:srgbClr>
                </a:solidFill>
              </a14:hiddenFill>
            </a:ext>
          </a:extLst>
        </p:spPr>
      </p:sp>
      <p:sp>
        <p:nvSpPr>
          <p:cNvPr id="3" name="Text 1"/>
          <p:cNvSpPr/>
          <p:nvPr/>
        </p:nvSpPr>
        <p:spPr>
          <a:xfrm>
            <a:off x="1371600" y="1828800"/>
            <a:ext cx="64008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Thank You!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1371600" y="2651760"/>
            <a:ext cx="640080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ar-JO" altLang="en-US" sz="3600" b="1" dirty="0">
                <a:solidFill>
                  <a:schemeClr val="bg1"/>
                </a:solidFill>
              </a:rPr>
              <a:t>شكراً لكم</a:t>
            </a:r>
          </a:p>
        </p:txBody>
      </p:sp>
      <p:sp>
        <p:nvSpPr>
          <p:cNvPr id="5" name="Text 3"/>
          <p:cNvSpPr/>
          <p:nvPr/>
        </p:nvSpPr>
        <p:spPr>
          <a:xfrm>
            <a:off x="1371600" y="3474720"/>
            <a:ext cx="64008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</a:rPr>
              <a:t>Path2life: Saving Lives Through Innovation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4686300"/>
            <a:ext cx="6400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Questions?</a:t>
            </a:r>
            <a:endParaRPr lang="en-US" sz="240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0.4,&quot;top&quot;:93.6,&quot;width&quot;:619.2}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0.4,&quot;top&quot;:93.6,&quot;width&quot;:619.2}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0.4,&quot;top&quot;:93.6,&quot;width&quot;:619.2}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0.4,&quot;top&quot;:93.6,&quot;width&quot;:619.2}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0.4,&quot;top&quot;:93.6,&quot;width&quot;:619.2}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0.4,&quot;top&quot;:93.6,&quot;width&quot;:619.2}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0.4,&quot;top&quot;:93.6,&quot;width&quot;:619.2}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316.8,&quot;left&quot;:50.4,&quot;top&quot;:93.6,&quot;width&quot;:619.2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718</Words>
  <Application>Microsoft Office PowerPoint</Application>
  <PresentationFormat>On-screen Show (16:9)</PresentationFormat>
  <Paragraphs>156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lana darmna</cp:lastModifiedBy>
  <cp:revision>24</cp:revision>
  <dcterms:created xsi:type="dcterms:W3CDTF">2026-02-06T21:51:00Z</dcterms:created>
  <dcterms:modified xsi:type="dcterms:W3CDTF">2026-02-07T20:47:07Z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AC09247F878B43ADB38EF1CBDCA3EC5F_12</vt:lpwstr>
  </property>
  <property fmtid="{D5CDD505-2E9C-101B-9397-08002B2CF9AE}" pid="3" name="KSOProductBuildVer">
    <vt:lpwstr>1033-12.2.0.23196</vt:lpwstr>
  </property>
</Properties>
</file>