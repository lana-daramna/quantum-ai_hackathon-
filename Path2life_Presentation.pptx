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10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37160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🚑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Path2life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</a:rPr>
              <a:t>Smart Emergency Decision Support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⚛️ Powered by Quantum-Inspired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Mira Huseen &amp; Lana Daramna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</a:rPr>
              <a:t>🚨 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05255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Delayed Response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Average 15-20 min delay in emergency response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3886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801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23560" y="132588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800"/>
                </a:solidFill>
              </a:rPr>
              <a:t>Poor Decision Making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50%+ of dispatches use wrong ambulance 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86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CF1"/>
                </a:solidFill>
              </a:rPr>
              <a:t>Route Challenges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Checkpoints &amp; road closures cause 30% delays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3886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23560" y="297180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No Data-Driven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Decisions based on experience, not optimization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E63946"/>
                </a:solidFill>
              </a:rPr>
              <a:t>💔 </a:t>
            </a:r>
            <a:r>
              <a:rPr lang="ar-JO" altLang="en-US" sz="1800" b="1" i="1" dirty="0">
                <a:solidFill>
                  <a:srgbClr val="E63946"/>
                </a:solidFill>
              </a:rPr>
              <a:t>   </a:t>
            </a:r>
            <a:r>
              <a:rPr lang="en-US" sz="1800" b="1" i="1" dirty="0">
                <a:solidFill>
                  <a:srgbClr val="E63946"/>
                </a:solidFill>
              </a:rPr>
              <a:t>Every minute counts in saving lives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Why This Matters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JO" altLang="en-US" sz="6400" b="1" dirty="0">
                <a:solidFill>
                  <a:srgbClr val="FFFFFF"/>
                </a:solidFill>
              </a:rPr>
              <a:t>8</a:t>
            </a:r>
            <a:r>
              <a:rPr lang="en-US" altLang="en-US" sz="6400" b="1" dirty="0">
                <a:solidFill>
                  <a:srgbClr val="FFFFFF"/>
                </a:solidFill>
              </a:rPr>
              <a:t>3,000</a:t>
            </a:r>
            <a:r>
              <a:rPr lang="en-US" sz="6400" b="1" dirty="0">
                <a:solidFill>
                  <a:srgbClr val="FFFFFF"/>
                </a:solidFill>
              </a:rPr>
              <a:t>+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4579620" cy="821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FFFFFF"/>
                </a:solidFill>
              </a:rPr>
              <a:t>Before 2023, ambulance services in Palestine responded to around 83,000 emergency calls annually.</a:t>
            </a:r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15-20 min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0" y="2834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Average delay caused by poor route/ambulance selection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27480" y="3724275"/>
            <a:ext cx="6400800" cy="1371600"/>
          </a:xfrm>
          <a:prstGeom prst="rect">
            <a:avLst/>
          </a:prstGeom>
          <a:noFill/>
          <a:ln w="25400">
            <a:solidFill>
              <a:srgbClr val="FFFFF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0000"/>
                  </a:srgbClr>
                </a:solidFill>
              </a14:hiddenFill>
            </a:ext>
          </a:extLst>
        </p:spPr>
      </p:sp>
      <p:sp>
        <p:nvSpPr>
          <p:cNvPr id="8" name="Text 6"/>
          <p:cNvSpPr/>
          <p:nvPr/>
        </p:nvSpPr>
        <p:spPr>
          <a:xfrm>
            <a:off x="1554480" y="3971925"/>
            <a:ext cx="6035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UN SDG 3: Good Health and Well-being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"Ensure healthy lives and promote well-being for all"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6CF1"/>
                </a:solidFill>
              </a:rPr>
              <a:t>💡 Our Solution: Path2life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6CF1"/>
                </a:solidFill>
              </a:rPr>
              <a:t>AI-Powered</a:t>
            </a:r>
            <a:r>
              <a:rPr lang="en-US" sz="2000" dirty="0">
                <a:solidFill>
                  <a:srgbClr val="333333"/>
                </a:solidFill>
              </a:rPr>
              <a:t> Emergency Decision Support System
</a:t>
            </a:r>
            <a:r>
              <a:rPr lang="en-US" sz="1400" dirty="0">
                <a:solidFill>
                  <a:srgbClr val="555555"/>
                </a:solidFill>
              </a:rPr>
              <a:t>✅ Analyzes patient data in real-time
✅ Calculates AI-based risk score
✅ Uses quantum-inspired optimization
✅ Selects optimal ambulance &amp; route
✅ Provides decision in &lt;100ms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640080"/>
          </a:xfrm>
          <a:prstGeom prst="rect">
            <a:avLst/>
          </a:prstGeom>
          <a:solidFill>
            <a:srgbClr val="0A6CF1"/>
          </a:solidFill>
          <a:ln w="12700">
            <a:solidFill>
              <a:srgbClr val="0A6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4630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Patient Data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205740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6CF1"/>
                </a:solidFill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3657600" cy="640080"/>
          </a:xfrm>
          <a:prstGeom prst="rect">
            <a:avLst/>
          </a:prstGeom>
          <a:solidFill>
            <a:srgbClr val="0A6CF1"/>
          </a:solidFill>
          <a:ln w="12700">
            <a:solidFill>
              <a:srgbClr val="0A6C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3774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AI Risk Assessment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97180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6CF1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3200400"/>
            <a:ext cx="3657600" cy="640080"/>
          </a:xfrm>
          <a:prstGeom prst="rect">
            <a:avLst/>
          </a:prstGeom>
          <a:solidFill>
            <a:srgbClr val="0A6CF1"/>
          </a:solidFill>
          <a:ln w="12700">
            <a:solidFill>
              <a:srgbClr val="0A6C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2918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⚛️ Quantum Optimization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88620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6CF1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4114800"/>
            <a:ext cx="3657600" cy="640080"/>
          </a:xfrm>
          <a:prstGeom prst="rect">
            <a:avLst/>
          </a:prstGeom>
          <a:solidFill>
            <a:srgbClr val="0A6CF1"/>
          </a:solidFill>
          <a:ln w="12700">
            <a:solidFill>
              <a:srgbClr val="0A6C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2062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Optimal Decision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⚛️ 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5140" y="1005840"/>
            <a:ext cx="4086225" cy="3836035"/>
          </a:xfrm>
          <a:prstGeom prst="rect">
            <a:avLst/>
          </a:prstGeom>
          <a:noFill/>
          <a:ln w="38100">
            <a:solidFill>
              <a:srgbClr val="14B8A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0000"/>
                  </a:srgbClr>
                </a:solidFill>
              </a14:hiddenFill>
            </a:ext>
          </a:extLst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🤖 Artificial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FFFFFF"/>
                </a:solidFill>
              </a:rPr>
              <a:t>Risk Assessment Model
</a:t>
            </a:r>
            <a:r>
              <a:rPr lang="en-US" sz="1200" dirty="0">
                <a:solidFill>
                  <a:srgbClr val="FFFFFF"/>
                </a:solidFill>
              </a:rPr>
              <a:t>• Analyzes age, symptoms, chronic diseases
• Considers incident type &amp; location
• Outputs risk score (0-1)
</a:t>
            </a:r>
            <a:endParaRPr lang="en-US" sz="1400" dirty="0"/>
          </a:p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FFFFFF"/>
                </a:solidFill>
              </a:rPr>
              <a:t>Multi-objective Cost Function
</a:t>
            </a:r>
            <a:r>
              <a:rPr lang="en-US" sz="1200" dirty="0">
                <a:solidFill>
                  <a:srgbClr val="FFFFFF"/>
                </a:solidFill>
              </a:rPr>
              <a:t>• Balances time, safety, resources
• Adaptive to emergency severity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095750" cy="3836035"/>
          </a:xfrm>
          <a:prstGeom prst="rect">
            <a:avLst/>
          </a:prstGeom>
          <a:noFill/>
          <a:ln w="38100">
            <a:solidFill>
              <a:srgbClr val="E6394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0000"/>
                  </a:srgbClr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⚛️ Quantum-Inspired Optimization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7490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1. Superposition
</a:t>
            </a:r>
            <a:r>
              <a:rPr lang="en-US" sz="1100" dirty="0">
                <a:solidFill>
                  <a:srgbClr val="FFFFFF"/>
                </a:solidFill>
              </a:rPr>
              <a:t>   Explores all solutions simultaneously
</a:t>
            </a:r>
            <a:r>
              <a:rPr lang="en-US" sz="1400" b="1" dirty="0">
                <a:solidFill>
                  <a:srgbClr val="14B8A6"/>
                </a:solidFill>
              </a:rPr>
              <a:t>2. Quantum Annealing
</a:t>
            </a:r>
            <a:r>
              <a:rPr lang="en-US" sz="1100" dirty="0">
                <a:solidFill>
                  <a:srgbClr val="FFFFFF"/>
                </a:solidFill>
              </a:rPr>
              <a:t>   Converges to optimal solution
</a:t>
            </a:r>
            <a:r>
              <a:rPr lang="en-US" sz="1400" b="1" dirty="0">
                <a:solidFill>
                  <a:srgbClr val="14B8A6"/>
                </a:solidFill>
              </a:rPr>
              <a:t>3. Quantum Tunneling
</a:t>
            </a:r>
            <a:r>
              <a:rPr lang="en-US" sz="1100" dirty="0">
                <a:solidFill>
                  <a:srgbClr val="FFFFFF"/>
                </a:solidFill>
              </a:rPr>
              <a:t>   Escapes local minima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6CF1"/>
                </a:solidFill>
              </a:rPr>
              <a:t>🔄 How Path2life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457200" cy="457200"/>
          </a:xfrm>
          <a:prstGeom prst="ellipse">
            <a:avLst/>
          </a:prstGeom>
          <a:solidFill>
            <a:srgbClr val="0A6CF1"/>
          </a:solidFill>
        </p:spPr>
      </p:sp>
      <p:sp>
        <p:nvSpPr>
          <p:cNvPr id="4" name="Text 2"/>
          <p:cNvSpPr/>
          <p:nvPr/>
        </p:nvSpPr>
        <p:spPr>
          <a:xfrm>
            <a:off x="548640" y="8229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777240"/>
            <a:ext cx="749808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82296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Age, symptoms, chronic diseases, location, road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6CF1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F9800"/>
          </a:solidFill>
        </p:spPr>
      </p:sp>
      <p:sp>
        <p:nvSpPr>
          <p:cNvPr id="10" name="Text 8"/>
          <p:cNvSpPr/>
          <p:nvPr/>
        </p:nvSpPr>
        <p:spPr>
          <a:xfrm>
            <a:off x="548640" y="16916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749808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69164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AI Risk Calculation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01168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ML model calculates risk score: 0.85 (Critical)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9800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16" name="Text 14"/>
          <p:cNvSpPr/>
          <p:nvPr/>
        </p:nvSpPr>
        <p:spPr>
          <a:xfrm>
            <a:off x="548640" y="25603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2514600"/>
            <a:ext cx="749808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56032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Solution Space Creation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88036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All route × ambulance combinations (e.g., 2 routes × 2 ambulances =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22" name="Text 20"/>
          <p:cNvSpPr/>
          <p:nvPr/>
        </p:nvSpPr>
        <p:spPr>
          <a:xfrm>
            <a:off x="548640" y="34290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188720" y="3383280"/>
            <a:ext cx="749808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42900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Quantum Optimization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74904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100 iterations of annealing in &lt;</a:t>
            </a:r>
            <a:r>
              <a:rPr lang="ar-JO" altLang="en-US" sz="1100" dirty="0">
                <a:solidFill>
                  <a:srgbClr val="666666"/>
                </a:solidFill>
              </a:rPr>
              <a:t>5</a:t>
            </a:r>
            <a:r>
              <a:rPr lang="en-US" sz="1100" dirty="0">
                <a:solidFill>
                  <a:srgbClr val="666666"/>
                </a:solidFill>
              </a:rPr>
              <a:t>00ms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3946"/>
                </a:solidFill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28" name="Text 26"/>
          <p:cNvSpPr/>
          <p:nvPr/>
        </p:nvSpPr>
        <p:spPr>
          <a:xfrm>
            <a:off x="548640" y="429768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188720" y="4251960"/>
            <a:ext cx="749808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29768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Decision Output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617720"/>
            <a:ext cx="7132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Best ambulance with best  route.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6CF1"/>
                </a:solidFill>
              </a:rPr>
              <a:t>🎯 UN Sustainable Development Goals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13080" y="914400"/>
            <a:ext cx="8229600" cy="1645920"/>
          </a:xfrm>
          <a:prstGeom prst="rect">
            <a:avLst/>
          </a:prstGeom>
          <a:solidFill>
            <a:srgbClr val="0A6CF1"/>
          </a:solidFill>
          <a:ln w="12700">
            <a:solidFill>
              <a:srgbClr val="0A6C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SDG 3: Good Health and Well-being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"Ensure healthy lives and promote well-being for all at all ages"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3080" y="26517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How Path2life Contributes: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Reduces emergency response time by 15-30%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Improves accuracy of emergency resource allocation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Data-driven decisions save lives in critical situations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Addresses unique Palestinian context (checkpoints, closures)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B8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💡 Innovation &amp; Creativity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4630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First-of-its-kind in Palestine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2025" y="178308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No existing emergency system uses AI + Quantum optimization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Novel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Combines quantum annealing with real-world emergency constraints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117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Beyond Traditional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01752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Not just 'fastest route' - balances time, safety, and resources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56032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117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0" y="269748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Context-Aware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7335" y="301752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Accounts for Palestine-specific challenges (checkpoints, closures)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Real-time Processing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38912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Decision in &lt;500ms vs. minutes for human operators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840480"/>
            <a:ext cx="3886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069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0" y="39776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Scalable &amp; Extensible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73040" y="4252595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Can integrate traffic APIs, hospital capacity, weather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</a:rPr>
              <a:t>❤️ Social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20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CAF50"/>
                </a:solidFill>
              </a:rPr>
              <a:t>50-100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</a:rPr>
              <a:t>Lives Saved Annually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</a:rPr>
              <a:t>(projected)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3886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0A6C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280160"/>
            <a:ext cx="3520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A6CF1"/>
                </a:solidFill>
              </a:rPr>
              <a:t>3M+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983480" y="210312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</a:rPr>
              <a:t>Palestinian Citizens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</a:rPr>
              <a:t>Benefiting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Key Impact Areas: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✅ Economic: Reduced healthcare costs through efficient resource allocation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✅ Social: Equal access to optimized emergency care across all Palestinian cities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✅ Sustainability: System learns and improves from each emergency case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✅ Scalability: Can be deployed nationwide with minimal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1125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6CF1"/>
                </a:solidFill>
              </a:rPr>
              <a:t>🏗️ 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5913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A6CF1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75057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6CF1"/>
                </a:solidFill>
              </a:rPr>
              <a:t>Frontend Layer</a:t>
            </a:r>
            <a:endParaRPr lang="en-US" sz="14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640080" y="111633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HTML/CSS/JavaScript  •  Responsive Design  •  Chatbot 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5641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40080" y="184785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Backend Layer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640080" y="221361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Flask REST API  •  Python 3.8+  •  CORS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369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40080" y="294513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</a:rPr>
              <a:t>AI/ML Layer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40080" y="331089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Risk Assessment Model  •  Multi-objective Optimization  •  Real-time 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5097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640080" y="404241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Quantum Layer</a:t>
            </a:r>
            <a:endParaRPr lang="en-US" sz="14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40080" y="440817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Quantum Annealing  •  Solution Space Explorer  •  Confidence Scoring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6CF1"/>
                </a:solidFill>
              </a:rPr>
              <a:t>🚀 Future Development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86200" cy="1554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86200" cy="457200"/>
          </a:xfrm>
          <a:prstGeom prst="rect">
            <a:avLst/>
          </a:prstGeom>
          <a:solidFill>
            <a:srgbClr val="0A6CF1"/>
          </a:solidFill>
        </p:spPr>
      </p:sp>
      <p:sp>
        <p:nvSpPr>
          <p:cNvPr id="5" name="Text 3"/>
          <p:cNvSpPr/>
          <p:nvPr/>
        </p:nvSpPr>
        <p:spPr>
          <a:xfrm>
            <a:off x="548640" y="13258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Machine Learning Enhancement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Learn from historical dispatch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Adaptive weight optimization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Predictive route conditions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886200" cy="1554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80160"/>
            <a:ext cx="3886200" cy="457200"/>
          </a:xfrm>
          <a:prstGeom prst="rect">
            <a:avLst/>
          </a:prstGeom>
          <a:solidFill>
            <a:srgbClr val="0A6CF1"/>
          </a:solidFill>
        </p:spPr>
      </p:sp>
      <p:sp>
        <p:nvSpPr>
          <p:cNvPr id="12" name="Text 10"/>
          <p:cNvSpPr/>
          <p:nvPr/>
        </p:nvSpPr>
        <p:spPr>
          <a:xfrm>
            <a:off x="4892040" y="13258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Real-time Data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Traffic APIs (Google Maps, Waze)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37744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Weather conditions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56032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Hospital ER capacity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886200" cy="1554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08960"/>
            <a:ext cx="3886200" cy="457200"/>
          </a:xfrm>
          <a:prstGeom prst="rect">
            <a:avLst/>
          </a:prstGeom>
          <a:solidFill>
            <a:srgbClr val="0A6CF1"/>
          </a:solidFill>
        </p:spPr>
      </p:sp>
      <p:sp>
        <p:nvSpPr>
          <p:cNvPr id="19" name="Text 17"/>
          <p:cNvSpPr/>
          <p:nvPr/>
        </p:nvSpPr>
        <p:spPr>
          <a:xfrm>
            <a:off x="548640" y="31546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657600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True Quantum Computing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IBM Qiskit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D-Wave quantum annealer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Variational Quantum Eigensolver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108960"/>
            <a:ext cx="3886200" cy="1554480"/>
          </a:xfrm>
          <a:prstGeom prst="rect">
            <a:avLst/>
          </a:prstGeom>
          <a:solidFill>
            <a:srgbClr val="F8F9FA"/>
          </a:solidFill>
          <a:ln w="25400">
            <a:solidFill>
              <a:srgbClr val="0A6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108960"/>
            <a:ext cx="3886200" cy="457200"/>
          </a:xfrm>
          <a:prstGeom prst="rect">
            <a:avLst/>
          </a:prstGeom>
          <a:solidFill>
            <a:srgbClr val="0A6CF1"/>
          </a:solidFill>
        </p:spPr>
      </p:sp>
      <p:sp>
        <p:nvSpPr>
          <p:cNvPr id="26" name="Text 24"/>
          <p:cNvSpPr/>
          <p:nvPr/>
        </p:nvSpPr>
        <p:spPr>
          <a:xfrm>
            <a:off x="4892040" y="31546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611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Multi-Agent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02336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Coordinate multiple ambulances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420624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Fleet-wide optimization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389120"/>
            <a:ext cx="3520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• Predictive dispatch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👥 Our 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0" cy="258889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Mira Huseen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</a:rPr>
              <a:t>Al-Istiqlal University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3336290" cy="25933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Lana Daramna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</a:rPr>
              <a:t>Birzeit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 w="38100">
            <a:solidFill>
              <a:srgbClr val="FFFFF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0000"/>
                  </a:srgbClr>
                </a:solidFill>
              </a14:hiddenFill>
            </a:ext>
          </a:extLst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JO" altLang="en-US" sz="3600" b="1" dirty="0">
                <a:solidFill>
                  <a:schemeClr val="bg1"/>
                </a:solidFill>
              </a:rPr>
              <a:t>شكراً لكم</a:t>
            </a:r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Path2life: Saving Lives Through Innovation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6863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8,&quot;left&quot;:50.4,&quot;top&quot;:93.6,&quot;width&quot;:61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719</Words>
  <Application>Microsoft Office PowerPoint</Application>
  <PresentationFormat>On-screen Show (16:9)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lana darmna</cp:lastModifiedBy>
  <cp:revision>22</cp:revision>
  <dcterms:created xsi:type="dcterms:W3CDTF">2026-02-06T21:51:00Z</dcterms:created>
  <dcterms:modified xsi:type="dcterms:W3CDTF">2026-02-07T20:38:01Z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AC09247F878B43ADB38EF1CBDCA3EC5F_12</vt:lpwstr>
  </property>
  <property fmtid="{D5CDD505-2E9C-101B-9397-08002B2CF9AE}" pid="3" name="KSOProductBuildVer">
    <vt:lpwstr>1033-12.2.0.23196</vt:lpwstr>
  </property>
</Properties>
</file>